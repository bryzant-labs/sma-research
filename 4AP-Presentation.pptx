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SMA RESEARCH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DF3"/>
                </a:solidFill>
                <a:latin typeface="Calibri"/>
              </a:defRPr>
            </a:pPr>
            <a:r>
              <a:t>4-Aminopyridine: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8EDF3"/>
                </a:solidFill>
                <a:latin typeface="Calibri"/>
              </a:defRPr>
            </a:pPr>
            <a:r>
              <a:t>Computational Evidence for</a:t>
            </a:r>
            <a:br/>
            <a:r>
              <a:t>Multi-Target SMA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B"/>
                </a:solidFill>
                <a:latin typeface="Calibri"/>
              </a:defRPr>
            </a:pPr>
            <a:r>
              <a:t>Molecular Docking, Dynamics, and Analog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6677"/>
                </a:solidFill>
                <a:latin typeface="Consolas"/>
              </a:defRPr>
            </a:pPr>
            <a:r>
              <a:t>Christian Fischer  ·  sma-research.info  ·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4-AP: Known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8EDF3"/>
                </a:solidFill>
                <a:latin typeface="Calibri"/>
              </a:rPr>
              <a:t>FDA-approved</a:t>
            </a:r>
            <a:r>
              <a:rPr sz="1600">
                <a:solidFill>
                  <a:srgbClr val="8899AB"/>
                </a:solidFill>
                <a:latin typeface="Calibri"/>
              </a:rPr>
              <a:t> as dalfampridine (Ampyra) for multiple sclerosis — improves walking speed via Kv channel blockade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8EDF3"/>
                </a:solidFill>
                <a:latin typeface="Calibri"/>
              </a:rPr>
              <a:t>Mechanism:</a:t>
            </a:r>
            <a:r>
              <a:rPr sz="1600">
                <a:solidFill>
                  <a:srgbClr val="8899AB"/>
                </a:solidFill>
                <a:latin typeface="Calibri"/>
              </a:rPr>
              <a:t> Blocks voltage-gated K+ channels (Kv1.x) at nodes of Ranvier → enhanced action potential conduction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8EDF3"/>
                </a:solidFill>
                <a:latin typeface="Calibri"/>
              </a:rPr>
              <a:t>Columbia Phase 1 in SMA</a:t>
            </a:r>
            <a:r>
              <a:rPr sz="1600">
                <a:solidFill>
                  <a:srgbClr val="8899AB"/>
                </a:solidFill>
                <a:latin typeface="Calibri"/>
              </a:rPr>
              <a:t> (NCT01645787, n=11): Motor function improvements observed, but trial inconclusive — small sample, no significant primary endpoint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8EDF3"/>
                </a:solidFill>
                <a:latin typeface="Calibri"/>
              </a:rPr>
              <a:t>Japanese patent</a:t>
            </a:r>
            <a:r>
              <a:rPr sz="1600">
                <a:solidFill>
                  <a:srgbClr val="8899AB"/>
                </a:solidFill>
                <a:latin typeface="Calibri"/>
              </a:rPr>
              <a:t> JP2015512409A describes 4-AP as potential SMA therapeutic agent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8EDF3"/>
                </a:solidFill>
                <a:latin typeface="Calibri"/>
              </a:rPr>
              <a:t>SMA relevance:</a:t>
            </a:r>
            <a:r>
              <a:rPr sz="1600">
                <a:solidFill>
                  <a:srgbClr val="8899AB"/>
                </a:solidFill>
                <a:latin typeface="Calibri"/>
              </a:rPr>
              <a:t> Proprioceptive circuit deficits in SMA (Mentis Lab, Columbia) — Kv channels critical for sensory neuron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Beyond Kv Channel Blockade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058400" cy="731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DF3"/>
                </a:solidFill>
                <a:latin typeface="Calibri"/>
              </a:defRPr>
            </a:pPr>
            <a:r>
              <a:t>Central question: Does 4-AP interact with SMA-relevant protein targets beyond its canonical Kv channel mechanism?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8EDF3"/>
                </a:solidFill>
                <a:latin typeface="Calibri"/>
              </a:rPr>
              <a:t>Computational screening</a:t>
            </a:r>
            <a:r>
              <a:rPr sz="1600">
                <a:solidFill>
                  <a:srgbClr val="8899AB"/>
                </a:solidFill>
                <a:latin typeface="Calibri"/>
              </a:rPr>
              <a:t> of 4-AP against 7 SMA protein targets using DiffDock v2.2 (NVIDIA NIM)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8EDF3"/>
                </a:solidFill>
                <a:latin typeface="Calibri"/>
              </a:rPr>
              <a:t>378 compound-target pairs</a:t>
            </a:r>
            <a:r>
              <a:rPr sz="1600">
                <a:solidFill>
                  <a:srgbClr val="8899AB"/>
                </a:solidFill>
                <a:latin typeface="Calibri"/>
              </a:rPr>
              <a:t> screened in total (54 compounds × 7 targets)</a:t>
            </a:r>
          </a:p>
          <a:p>
            <a:pPr>
              <a:spcBef>
                <a:spcPts val="400"/>
              </a:spcBef>
              <a:defRPr sz="1600">
                <a:solidFill>
                  <a:srgbClr val="8899AB"/>
                </a:solidFill>
                <a:latin typeface="Calibri"/>
              </a:defRPr>
            </a:pPr>
            <a:r>
              <a:t> 4-AP included alongside 53 other SMA-relevant compounds as internal controls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8EDF3"/>
                </a:solidFill>
                <a:latin typeface="Calibri"/>
              </a:rPr>
              <a:t>Follow-up:</a:t>
            </a:r>
            <a:r>
              <a:rPr sz="1600">
                <a:solidFill>
                  <a:srgbClr val="8899AB"/>
                </a:solidFill>
                <a:latin typeface="Calibri"/>
              </a:rPr>
              <a:t> 100ns molecular dynamics, analog optimization, ADMET profiling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645920" cy="4114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8EDF3"/>
                </a:solidFill>
                <a:latin typeface="Consolas"/>
              </a:defRPr>
            </a:pPr>
            <a:r>
              <a:t>DiffDock v2.2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5029200"/>
            <a:ext cx="1645920" cy="4114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899AB"/>
                </a:solidFill>
                <a:latin typeface="Consolas"/>
              </a:defRPr>
            </a:pPr>
            <a:r>
              <a:t>Hit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029200"/>
            <a:ext cx="1645920" cy="4114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899AB"/>
                </a:solidFill>
                <a:latin typeface="Consolas"/>
              </a:defRPr>
            </a:pPr>
            <a:r>
              <a:t>MD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79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5029200"/>
            <a:ext cx="1645920" cy="4114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899AB"/>
                </a:solidFill>
                <a:latin typeface="Consolas"/>
              </a:defRPr>
            </a:pPr>
            <a:r>
              <a:t>Analog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5029200"/>
            <a:ext cx="1645920" cy="4114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899AB"/>
                </a:solidFill>
                <a:latin typeface="Consolas"/>
              </a:defRPr>
            </a:pPr>
            <a:r>
              <a:t>ADMET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Multi-Target Binding Profile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DiffDock Confidence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Rank (of 378)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DF3"/>
                          </a:solidFill>
                          <a:latin typeface="Calibri"/>
                        </a:defRPr>
                      </a:pPr>
                      <a:r>
                        <a:t>CORO1C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Actin dynamics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+0.251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DF3"/>
                          </a:solidFill>
                          <a:latin typeface="Calibri"/>
                        </a:defRPr>
                      </a:pPr>
                      <a:r>
                        <a:t>SMN2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Splicing target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+0.100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Top 5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DF3"/>
                          </a:solidFill>
                          <a:latin typeface="Calibri"/>
                        </a:defRPr>
                      </a:pPr>
                      <a:r>
                        <a:t>NCALD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Ca²⁺ sensor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+0.076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Top 10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DF3"/>
                          </a:solidFill>
                          <a:latin typeface="Calibri"/>
                        </a:defRPr>
                      </a:pPr>
                      <a:r>
                        <a:t>SMN1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Core SMA protein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DF3"/>
                          </a:solidFill>
                          <a:latin typeface="Calibri"/>
                        </a:defRPr>
                      </a:pPr>
                      <a:r>
                        <a:t>UBA1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Ubiquitin pathway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PLS3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Actin bundling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STMN2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Axonal maintenance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058400" cy="731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3492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B"/>
                </a:solidFill>
                <a:latin typeface="Calibri"/>
              </a:defRPr>
            </a:pPr>
            <a:r>
              <a:t>5 of 7 targets show binding. 4-AP ranked #1 of all 378 pairs for CORO1C.</a:t>
            </a:r>
            <a:br/>
            <a:r>
              <a:t>Note: DiffDock confidence ≠ binding affinity. Experimental validation required (SPR/ITC).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NOVEL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4-AP → CORO1C: Previously Unreported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CORO1C in SMA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Coronin-1C: actin dynamics regulator, critical for growth cone motility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Depleted in SMA motor neurons (GSE208629, cross-species)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Double-hit model: SMN loss → intron retention → less CORO1C → cytoskeletal collapse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0 publications linking 4-AP to CORO1C (PubMed, April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Implication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If confirmed: 4-AP rescues cytoskeletal function independently of SMN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Dual-mechanism drug: Kv blockade + actin rescue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CORO1C needs activators not inhibitors (Wirth Lab, PMID 27499521)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Binding mode (activating vs inhibiting) requires structural characterization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058400" cy="731520"/>
          </a:xfrm>
          <a:prstGeom prst="round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5080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3"/>
                </a:solidFill>
                <a:latin typeface="Calibri"/>
              </a:defRPr>
            </a:pPr>
            <a:r>
              <a:t>Core novelty: If validated, this reframes 4-AP from a symptomatic Kv blocker to a disease-modifying multi-target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MOLECULAR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Binding Dynamics Characterization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82880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Atoms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4-AP / Kv1.2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38.9M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10ns + 100ns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A100 80GB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Stable binding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4-AP / CORO1C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~90K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10ns + 100ns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A100 80GB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Pose maintained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4-AP / SMN2 pre-mRNA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~80K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10ns + 100ns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A100 80GB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RNA interaction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4-AP / KcsA (control)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~65K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10ns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RTX 3090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Known binder ✓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572000"/>
            <a:ext cx="22860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onsolas"/>
              </a:defRPr>
            </a:pPr>
            <a:r>
              <a:t>38.9M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"/>
              </a:defRPr>
            </a:pPr>
            <a:r>
              <a:t>Atoms (Kv1.2)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572000"/>
            <a:ext cx="22860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4617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onsolas"/>
              </a:defRPr>
            </a:pPr>
            <a:r>
              <a:t>320ns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029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"/>
              </a:defRPr>
            </a:pPr>
            <a:r>
              <a:t>Total sim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572000"/>
            <a:ext cx="22860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617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onsolas"/>
              </a:defRPr>
            </a:pPr>
            <a:r>
              <a:t>~$15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29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"/>
              </a:defRPr>
            </a:pPr>
            <a:r>
              <a:t>GPU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572000"/>
            <a:ext cx="22860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4617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onsolas"/>
              </a:defRPr>
            </a:pPr>
            <a:r>
              <a:t>OpenMM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029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"/>
              </a:defRPr>
            </a:pPr>
            <a:r>
              <a:t>Amber14 + TIP3P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ANALOG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Next-Generation 4-AP Derivatives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Molecule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73 analogs</a:t>
            </a:r>
            <a:r>
              <a:rPr sz="1400">
                <a:solidFill>
                  <a:srgbClr val="8899AB"/>
                </a:solidFill>
                <a:latin typeface="Calibri"/>
              </a:rPr>
              <a:t> via MolMIM (NVIDIA NIM) — structure-guided optimization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Top QED: 0.926 (excellent drug-likeness)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500 de novo</a:t>
            </a:r>
            <a:r>
              <a:rPr sz="1400">
                <a:solidFill>
                  <a:srgbClr val="8899AB"/>
                </a:solidFill>
                <a:latin typeface="Calibri"/>
              </a:rPr>
              <a:t> Kv1.2 modulators via GenMol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All analogs screened against Kv1.2 + CORO1C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Safety Profiling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ADMET-AI:</a:t>
            </a:r>
            <a:r>
              <a:rPr sz="1400">
                <a:solidFill>
                  <a:srgbClr val="8899AB"/>
                </a:solidFill>
                <a:latin typeface="Calibri"/>
              </a:rPr>
              <a:t> 98 properties per compound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BBB penetration: critical for CNS target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CYP3A4 interaction: drug-drug risk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hERG liability: cardiac safety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RNA:</a:t>
            </a:r>
            <a:r>
              <a:rPr sz="1400">
                <a:solidFill>
                  <a:srgbClr val="8899AB"/>
                </a:solidFill>
                <a:latin typeface="Calibri"/>
              </a:rPr>
              <a:t> KCNA2 mRNA structure predicted (RhoFold+)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058400" cy="6400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3"/>
                </a:solidFill>
                <a:latin typeface="Calibri"/>
              </a:defRPr>
            </a:pPr>
            <a:r>
              <a:t>Goal: Identify 4-AP analogs with improved CORO1C binding, maintained Kv activity, and reduced seizure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PROPRIOCEPTIVE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Circuit-Level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Kv1.2 channels</a:t>
            </a:r>
            <a:r>
              <a:rPr sz="1500">
                <a:solidFill>
                  <a:srgbClr val="8899AB"/>
                </a:solidFill>
                <a:latin typeface="Calibri"/>
              </a:rPr>
              <a:t> are critical for proprioceptive neuron function — encode muscle length, joint position</a:t>
            </a:r>
          </a:p>
          <a:p>
            <a:pPr>
              <a:spcBef>
                <a:spcPts val="400"/>
              </a:spcBef>
              <a:defRPr sz="1500">
                <a:solidFill>
                  <a:srgbClr val="8899AB"/>
                </a:solidFill>
                <a:latin typeface="Calibri"/>
              </a:defRPr>
            </a:pPr>
            <a:r>
              <a:t>SMA patients show proprioceptive deficits beyond motor neuron loss (Mentis Lab, Columbia)</a:t>
            </a:r>
          </a:p>
          <a:p>
            <a:pPr>
              <a:spcBef>
                <a:spcPts val="400"/>
              </a:spcBef>
              <a:defRPr sz="1500">
                <a:solidFill>
                  <a:srgbClr val="8899AB"/>
                </a:solidFill>
                <a:latin typeface="Calibri"/>
              </a:defRPr>
            </a:pPr>
            <a:r>
              <a:t>4-AP restores action potential conduction at demyelinated/dysfunctional nodes of Ranvier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Capogrosso:</a:t>
            </a:r>
            <a:r>
              <a:rPr sz="1500">
                <a:solidFill>
                  <a:srgbClr val="8899AB"/>
                </a:solidFill>
                <a:latin typeface="Calibri"/>
              </a:rPr>
              <a:t> spinal stimulation demonstrates that circuit-level interventions improve motor output even without new motor neurons</a:t>
            </a:r>
          </a:p>
          <a:p>
            <a:pPr>
              <a:spcBef>
                <a:spcPts val="400"/>
              </a:spcBef>
              <a:defRPr sz="1500">
                <a:solidFill>
                  <a:srgbClr val="8899AB"/>
                </a:solidFill>
                <a:latin typeface="Calibri"/>
              </a:defRPr>
            </a:pPr>
            <a:r>
              <a:t>PERP protein at NMJ (new SMA target) — 4-AP may modulate this circuit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572000"/>
            <a:ext cx="1828800" cy="548640"/>
          </a:xfrm>
          <a:prstGeom prst="roundRect">
            <a:avLst/>
          </a:prstGeom>
          <a:solidFill>
            <a:srgbClr val="0A2A35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B4D8"/>
                </a:solidFill>
                <a:latin typeface="Consolas"/>
              </a:defRPr>
            </a:pPr>
            <a:r>
              <a:t>4-AP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45720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572000"/>
            <a:ext cx="1828800" cy="548640"/>
          </a:xfrm>
          <a:prstGeom prst="roundRect">
            <a:avLst/>
          </a:prstGeom>
          <a:solidFill>
            <a:srgbClr val="0A2A35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B4D8"/>
                </a:solidFill>
                <a:latin typeface="Consolas"/>
              </a:defRPr>
            </a:pPr>
            <a:r>
              <a:t>Kv1.2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5720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572000"/>
            <a:ext cx="1828800" cy="548640"/>
          </a:xfrm>
          <a:prstGeom prst="roundRect">
            <a:avLst/>
          </a:prstGeom>
          <a:solidFill>
            <a:srgbClr val="1A2332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99AB"/>
                </a:solidFill>
                <a:latin typeface="Consolas"/>
              </a:defRPr>
            </a:pPr>
            <a:r>
              <a:t>Enhanced</a:t>
            </a:r>
            <a:br/>
            <a:r>
              <a:t>conduction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5720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572000"/>
            <a:ext cx="1828800" cy="548640"/>
          </a:xfrm>
          <a:prstGeom prst="roundRect">
            <a:avLst/>
          </a:prstGeom>
          <a:solidFill>
            <a:srgbClr val="1A2332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99AB"/>
                </a:solidFill>
                <a:latin typeface="Consolas"/>
              </a:defRPr>
            </a:pPr>
            <a:r>
              <a:t>Proprioceptive</a:t>
            </a:r>
            <a:br/>
            <a:r>
              <a:t>input restored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5720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66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4572000"/>
            <a:ext cx="1828800" cy="548640"/>
          </a:xfrm>
          <a:prstGeom prst="roundRect">
            <a:avLst/>
          </a:prstGeom>
          <a:solidFill>
            <a:srgbClr val="0A2A35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B4D8"/>
                </a:solidFill>
                <a:latin typeface="Consolas"/>
              </a:defRPr>
            </a:pPr>
            <a:r>
              <a:t>Motor output</a:t>
            </a:r>
            <a:br/>
            <a:r>
              <a:t>improved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058400" cy="5943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406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3"/>
                </a:solidFill>
                <a:latin typeface="Calibri"/>
              </a:defRPr>
            </a:pPr>
            <a:r>
              <a:t>Hypothesis: Risdiplam (SMN protein) + 4-AP (circuit function) = addressing both molecular cause AND functional deficit.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COMBINATION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All-FDA-Approved Triple Combination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6576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Drug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6677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DF3"/>
                          </a:solidFill>
                          <a:latin typeface="Calibri"/>
                        </a:defRPr>
                      </a:pPr>
                      <a:r>
                        <a:t>Risdiplam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SMN2 pre-mRNA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Splicing correction → more SMN protein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FDA approved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DF3"/>
                          </a:solidFill>
                          <a:latin typeface="Calibri"/>
                        </a:defRPr>
                      </a:pPr>
                      <a:r>
                        <a:t>Valproic Acid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HDACs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Epigenetic activation + neuroprotection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FDA approved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EDF3"/>
                          </a:solidFill>
                          <a:latin typeface="Calibri"/>
                        </a:defRPr>
                      </a:pPr>
                      <a:r>
                        <a:t>4-Aminopyridine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Kv + CORO1C*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899AB"/>
                          </a:solidFill>
                          <a:latin typeface="Calibri"/>
                        </a:defRPr>
                      </a:pPr>
                      <a:r>
                        <a:t>Circuit function + cytoskeletal rescue*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FDA approved</a:t>
                      </a:r>
                    </a:p>
                  </a:txBody>
                  <a:tcPr>
                    <a:solidFill>
                      <a:srgbClr val="0C11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No new drug development required</a:t>
            </a:r>
            <a:r>
              <a:rPr sz="1500">
                <a:solidFill>
                  <a:srgbClr val="8899AB"/>
                </a:solidFill>
                <a:latin typeface="Calibri"/>
              </a:rPr>
              <a:t> — all three are clinically available</a:t>
            </a:r>
          </a:p>
          <a:p>
            <a:pPr>
              <a:spcBef>
                <a:spcPts val="400"/>
              </a:spcBef>
              <a:defRPr sz="1500">
                <a:solidFill>
                  <a:srgbClr val="8899AB"/>
                </a:solidFill>
                <a:latin typeface="Calibri"/>
              </a:defRPr>
            </a:pPr>
            <a:r>
              <a:t>Each targets a different layer: gene expression, protein function, circuit activity</a:t>
            </a:r>
          </a:p>
          <a:p>
            <a:pPr>
              <a:spcBef>
                <a:spcPts val="400"/>
              </a:spcBef>
              <a:defRPr sz="1500">
                <a:solidFill>
                  <a:srgbClr val="8899AB"/>
                </a:solidFill>
                <a:latin typeface="Calibri"/>
              </a:defRPr>
            </a:pPr>
            <a:r>
              <a:t>Computational evidence adds a fourth mechanism for 4-AP: cytoskeletal rescue via CORO1C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6677"/>
                </a:solidFill>
                <a:latin typeface="Calibri"/>
              </a:defRPr>
            </a:pPr>
            <a:r>
              <a:t>*CORO1C binding is computational prediction only. Requires experimental validation before clinical consideration.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onsolas"/>
              </a:defRPr>
            </a:pPr>
            <a:r>
              <a:t>CRITICAL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Limitations and Honest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DiffDock scores</a:t>
            </a:r>
            <a:r>
              <a:rPr sz="1500">
                <a:solidFill>
                  <a:srgbClr val="8899AB"/>
                </a:solidFill>
                <a:latin typeface="Calibri"/>
              </a:rPr>
              <a:t> are ML confidence, not Kd values. +0.251 means pose confidence, not binding strength.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Columbia Phase 1 was inconclusive</a:t>
            </a:r>
            <a:r>
              <a:rPr sz="1500">
                <a:solidFill>
                  <a:srgbClr val="8899AB"/>
                </a:solidFill>
                <a:latin typeface="Calibri"/>
              </a:rPr>
              <a:t> (n=11, no significant primary endpoint). Trial did not demonstrate efficacy.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Narrow therapeutic window:</a:t>
            </a:r>
            <a:r>
              <a:rPr sz="1500">
                <a:solidFill>
                  <a:srgbClr val="8899AB"/>
                </a:solidFill>
                <a:latin typeface="Calibri"/>
              </a:rPr>
              <a:t> 4-AP causes seizures at higher doses. CNS penetration is a double-edged sword.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Zero wet lab validation</a:t>
            </a:r>
            <a:r>
              <a:rPr sz="1500">
                <a:solidFill>
                  <a:srgbClr val="8899AB"/>
                </a:solidFill>
                <a:latin typeface="Calibri"/>
              </a:rPr>
              <a:t> of any computational prediction in this work.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MD simulations</a:t>
            </a:r>
            <a:r>
              <a:rPr sz="1500">
                <a:solidFill>
                  <a:srgbClr val="8899AB"/>
                </a:solidFill>
                <a:latin typeface="Calibri"/>
              </a:rPr>
              <a:t> show stable poses but do not prove functional binding or biological activity.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E8EDF3"/>
                </a:solidFill>
                <a:latin typeface="Calibri"/>
              </a:rPr>
              <a:t>CORO1C binding mode unknown</a:t>
            </a:r>
            <a:r>
              <a:rPr sz="1500">
                <a:solidFill>
                  <a:srgbClr val="8899AB"/>
                </a:solidFill>
                <a:latin typeface="Calibri"/>
              </a:rPr>
              <a:t> — activator vs. inhibitor cannot be determined computationally.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0058400" cy="914400"/>
          </a:xfrm>
          <a:prstGeom prst="roundRect">
            <a:avLst/>
          </a:prstGeom>
          <a:solidFill>
            <a:srgbClr val="2A1F0A"/>
          </a:solidFill>
          <a:ln>
            <a:solidFill>
              <a:srgbClr val="604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9E0B"/>
                </a:solidFill>
                <a:latin typeface="Consolas"/>
              </a:defRPr>
            </a:pPr>
            <a:r>
              <a:t>B−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51206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B"/>
                </a:solidFill>
                <a:latin typeface="Calibri"/>
              </a:defRPr>
            </a:pPr>
            <a:r>
              <a:t>Computational lead — not yet a discovery.</a:t>
            </a:r>
            <a:br/>
            <a:r>
              <a:t>Promising multi-target profile, but requires experimental binding confirmation (SPR/ITC) for any target before publication.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What Would Make This Publishable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Critical (Must Have)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SPR</a:t>
            </a:r>
            <a:r>
              <a:rPr sz="1400">
                <a:solidFill>
                  <a:srgbClr val="8899AB"/>
                </a:solidFill>
                <a:latin typeface="Calibri"/>
              </a:rPr>
              <a:t> for 4-AP → CORO1C binding (measure Kd)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ITC</a:t>
            </a:r>
            <a:r>
              <a:rPr sz="1400">
                <a:solidFill>
                  <a:srgbClr val="8899AB"/>
                </a:solidFill>
                <a:latin typeface="Calibri"/>
              </a:rPr>
              <a:t> for thermodynamic validation (ΔH, ΔS, stoichiometry)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In vitro:</a:t>
            </a:r>
            <a:r>
              <a:rPr sz="1400">
                <a:solidFill>
                  <a:srgbClr val="8899AB"/>
                </a:solidFill>
                <a:latin typeface="Calibri"/>
              </a:rPr>
              <a:t> 4-AP effect on CORO1C-dependent actin dynamics in SMA fibroblasts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Steered MD:</a:t>
            </a:r>
            <a:r>
              <a:rPr sz="1400">
                <a:solidFill>
                  <a:srgbClr val="8899AB"/>
                </a:solidFill>
                <a:latin typeface="Calibri"/>
              </a:rPr>
              <a:t> Pull 4-AP from CORO1C pocket, measure unbinding force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8EDF3"/>
                </a:solidFill>
                <a:latin typeface="Calibri"/>
              </a:rPr>
              <a:t>Cross-dock control:</a:t>
            </a:r>
            <a:r>
              <a:rPr sz="1400">
                <a:solidFill>
                  <a:srgbClr val="8899AB"/>
                </a:solidFill>
                <a:latin typeface="Calibri"/>
              </a:rPr>
              <a:t> 4-AP into random proteins — prove selectivity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If Binding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Collaborative preprint with structural biology lab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Test top 5 MolMIM analogs for improved selectivity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Co-treatment assay: Risdiplam + 4-AP in SMA motor neurons</a:t>
            </a:r>
          </a:p>
          <a:p>
            <a:pPr>
              <a:spcBef>
                <a:spcPts val="400"/>
              </a:spcBef>
              <a:defRPr sz="1400">
                <a:solidFill>
                  <a:srgbClr val="8899AB"/>
                </a:solidFill>
                <a:latin typeface="Calibri"/>
              </a:defRPr>
            </a:pPr>
            <a:r>
              <a:t>Free energy perturbation (FEP) for binding ΔG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058400" cy="731520"/>
          </a:xfrm>
          <a:prstGeom prst="roundRect">
            <a:avLst/>
          </a:prstGeom>
          <a:solidFill>
            <a:srgbClr val="200A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5080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B"/>
                </a:solidFill>
                <a:latin typeface="Calibri"/>
              </a:defRPr>
            </a:pPr>
            <a:r>
              <a:t>If binding NOT confirmed: Pivot to the best-performing MolMIM analog. The computational</a:t>
            </a:r>
            <a:br/>
            <a:r>
              <a:t>infrastructure and 73 candidates are ready. The method is validated regardless of 4-AP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onsolas"/>
              </a:defRPr>
            </a:pPr>
            <a:r>
              <a:t>OPEN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Calibri"/>
              </a:defRPr>
            </a:pPr>
            <a:r>
              <a:t>Methods and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7432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onsolas"/>
              </a:defRPr>
            </a:pPr>
            <a:r>
              <a:t>OpenMM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6677"/>
                </a:solidFill>
                <a:latin typeface="Calibri"/>
              </a:defRPr>
            </a:pPr>
            <a:r>
              <a:t>MD Simulations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27432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onsolas"/>
              </a:defRPr>
            </a:pPr>
            <a:r>
              <a:t>DiffDock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6677"/>
                </a:solidFill>
                <a:latin typeface="Calibri"/>
              </a:defRPr>
            </a:pPr>
            <a:r>
              <a:t>Molecular Docking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28800"/>
            <a:ext cx="27432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74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onsolas"/>
              </a:defRPr>
            </a:pPr>
            <a:r>
              <a:t>MolMIM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6677"/>
                </a:solidFill>
                <a:latin typeface="Calibri"/>
              </a:defRPr>
            </a:pPr>
            <a:r>
              <a:t>Analog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017520"/>
            <a:ext cx="27432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0632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onsolas"/>
              </a:defRPr>
            </a:pPr>
            <a:r>
              <a:t>RhoFold+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6677"/>
                </a:solidFill>
                <a:latin typeface="Calibri"/>
              </a:defRPr>
            </a:pPr>
            <a:r>
              <a:t>RNA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017520"/>
            <a:ext cx="27432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0632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onsolas"/>
              </a:defRPr>
            </a:pPr>
            <a:r>
              <a:t>ADMET-AI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6677"/>
                </a:solidFill>
                <a:latin typeface="Calibri"/>
              </a:defRPr>
            </a:pPr>
            <a:r>
              <a:t>Safety Profiling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017520"/>
            <a:ext cx="274320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0632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onsolas"/>
              </a:defRPr>
            </a:pPr>
            <a:r>
              <a:t>Vast.ai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6677"/>
                </a:solidFill>
                <a:latin typeface="Calibri"/>
              </a:defRPr>
            </a:pPr>
            <a:r>
              <a:t>~$50 total 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B"/>
                </a:solidFill>
                <a:latin typeface="Calibri"/>
              </a:defRPr>
            </a:pPr>
            <a:r>
              <a:t>All tools open source. All data published under CC-BY-4.0.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6677"/>
                </a:solidFill>
                <a:latin typeface="Consolas"/>
              </a:defRPr>
            </a:pPr>
            <a:r>
              <a:t>sma-research.info  ·  github.com/Bryzant-Labs/sma-research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6677"/>
                </a:solidFill>
                <a:latin typeface="Consola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